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Fraunces" charset="1" panose="00000000000000000000"/>
      <p:regular r:id="rId14"/>
    </p:embeddedFont>
    <p:embeddedFont>
      <p:font typeface="HK Grotesk" charset="1" panose="00000500000000000000"/>
      <p:regular r:id="rId15"/>
    </p:embeddedFont>
    <p:embeddedFont>
      <p:font typeface="Crimson Pro Bold" charset="1" panose="00000000000000000000"/>
      <p:regular r:id="rId16"/>
    </p:embeddedFont>
    <p:embeddedFont>
      <p:font typeface="HK Grotesk Semi-Bold" charset="1" panose="00000700000000000000"/>
      <p:regular r:id="rId17"/>
    </p:embeddedFont>
    <p:embeddedFont>
      <p:font typeface="Noto Serif Display ExtraCondensed Light" charset="1" panose="02020406080505020204"/>
      <p:regular r:id="rId18"/>
    </p:embeddedFont>
    <p:embeddedFont>
      <p:font typeface="HK Grotesk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43163" y="0"/>
            <a:ext cx="7144837" cy="10287000"/>
            <a:chOff x="0" y="0"/>
            <a:chExt cx="1393034" cy="20056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2005664"/>
            </a:xfrm>
            <a:custGeom>
              <a:avLst/>
              <a:gdLst/>
              <a:ahLst/>
              <a:cxnLst/>
              <a:rect r="r" b="b" t="t" l="l"/>
              <a:pathLst>
                <a:path h="2005664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2005664"/>
                  </a:lnTo>
                  <a:lnTo>
                    <a:pt x="0" y="2005664"/>
                  </a:lnTo>
                  <a:close/>
                </a:path>
              </a:pathLst>
            </a:custGeom>
            <a:blipFill>
              <a:blip r:embed="rId2"/>
              <a:stretch>
                <a:fillRect l="-12450" t="0" r="-1245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86230" y="2366943"/>
            <a:ext cx="4132527" cy="3777226"/>
          </a:xfrm>
          <a:custGeom>
            <a:avLst/>
            <a:gdLst/>
            <a:ahLst/>
            <a:cxnLst/>
            <a:rect r="r" b="b" t="t" l="l"/>
            <a:pathLst>
              <a:path h="3777226" w="4132527">
                <a:moveTo>
                  <a:pt x="0" y="0"/>
                </a:moveTo>
                <a:lnTo>
                  <a:pt x="4132528" y="0"/>
                </a:lnTo>
                <a:lnTo>
                  <a:pt x="4132528" y="3777226"/>
                </a:lnTo>
                <a:lnTo>
                  <a:pt x="0" y="3777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24" t="-1446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9305" y="771525"/>
            <a:ext cx="10506379" cy="56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9"/>
              </a:lnSpc>
            </a:pPr>
            <a:r>
              <a:rPr lang="en-US" sz="4399">
                <a:solidFill>
                  <a:srgbClr val="4A90E2"/>
                </a:solidFill>
                <a:latin typeface="Fraunces"/>
                <a:ea typeface="Fraunces"/>
                <a:cs typeface="Fraunces"/>
                <a:sym typeface="Fraunces"/>
              </a:rPr>
              <a:t>Department of Information Technology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9305" y="6203573"/>
            <a:ext cx="10506379" cy="3074815"/>
            <a:chOff x="0" y="0"/>
            <a:chExt cx="14008505" cy="409975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3147254"/>
              <a:ext cx="5020894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Arijit Banik                                                                     </a:t>
              </a:r>
            </a:p>
            <a:p>
              <a:pPr algn="l" marL="0" indent="0" lvl="0">
                <a:lnSpc>
                  <a:spcPts val="2815"/>
                </a:lnSpc>
                <a:spcBef>
                  <a:spcPct val="0"/>
                </a:spcBef>
              </a:pPr>
              <a:r>
                <a:rPr lang="en-US" sz="2346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Monaswi Kumar Bharadwaj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4775"/>
              <a:ext cx="14008505" cy="1991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644"/>
                </a:lnSpc>
              </a:pPr>
              <a:r>
                <a:rPr lang="en-US" b="true" sz="5644" spc="-112">
                  <a:solidFill>
                    <a:srgbClr val="002B5C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AI-Powered </a:t>
              </a:r>
            </a:p>
            <a:p>
              <a:pPr algn="ctr" marL="0" indent="0" lvl="0">
                <a:lnSpc>
                  <a:spcPts val="5644"/>
                </a:lnSpc>
              </a:pPr>
              <a:r>
                <a:rPr lang="en-US" b="true" sz="5644" spc="-112">
                  <a:solidFill>
                    <a:srgbClr val="002B5C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Classroom Attendance Automation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88114" y="1416684"/>
            <a:ext cx="2128761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9"/>
              </a:lnSpc>
            </a:pPr>
            <a:r>
              <a:rPr lang="en-US" sz="3899">
                <a:solidFill>
                  <a:srgbClr val="4A90E2"/>
                </a:solidFill>
                <a:latin typeface="Fraunces"/>
                <a:ea typeface="Fraunces"/>
                <a:cs typeface="Fraunces"/>
                <a:sym typeface="Fraunces"/>
              </a:rPr>
              <a:t>presents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22269" y="8554489"/>
            <a:ext cx="364346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Guided By: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Prof. Shikhar Kumar Sarma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Attendance inefficiencies in classrooms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 strike="noStrike" u="none">
                  <a:solidFill>
                    <a:srgbClr val="002B5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Wastes valuable class time for teachers and students.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Manual Roll Calls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980643"/>
            <a:chOff x="0" y="0"/>
            <a:chExt cx="5346700" cy="26408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 strike="noStrike" u="none">
                  <a:solidFill>
                    <a:srgbClr val="002B5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RFID technology allows students to skip class unnoticed.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Proxy Attendance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981200"/>
            <a:chOff x="0" y="0"/>
            <a:chExt cx="5346700" cy="2641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 strike="noStrike" u="none">
                  <a:solidFill>
                    <a:srgbClr val="002B5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Current systems fail to provide reliable attendance records.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Inaccurate Data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58125" y="1504772"/>
            <a:ext cx="9401175" cy="241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44"/>
              </a:lnSpc>
            </a:pPr>
            <a:r>
              <a:rPr lang="en-US" sz="9244" spc="-184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How FACIDANCE Work</a:t>
            </a:r>
            <a:r>
              <a:rPr lang="en-US" sz="9244" spc="-184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58125" y="4402762"/>
            <a:ext cx="9763125" cy="1481476"/>
            <a:chOff x="0" y="0"/>
            <a:chExt cx="13017500" cy="197530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A90E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Enrollment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10102"/>
              <a:ext cx="130175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Students 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oll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by u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pload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ing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three fac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ial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images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eate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se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cure identit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pr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file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739688" y="6934200"/>
            <a:ext cx="4010025" cy="2159452"/>
            <a:chOff x="0" y="0"/>
            <a:chExt cx="5346700" cy="287926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4A90E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Matching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48869"/>
              <a:ext cx="53467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instantly matches de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ted faces wit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led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pro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fil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and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rks at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endan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ce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au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om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ical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8125" y="6934200"/>
            <a:ext cx="4010025" cy="1797502"/>
            <a:chOff x="0" y="0"/>
            <a:chExt cx="5346700" cy="239666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4A90E2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Capture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48869"/>
              <a:ext cx="534670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lassroom 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ameras 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ap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ure a 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frame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aining m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ltipl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faces.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Seamless Deployment of Facidance System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 strike="noStrike" u="none">
                  <a:solidFill>
                    <a:srgbClr val="002B5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Utilizes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existing cameras for easy integration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 new hardware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 strike="noStrike" u="none">
                  <a:solidFill>
                    <a:srgbClr val="002B5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Easy setup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ensures teachers can adapt quickly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Zero learning curve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19250"/>
            <a:chOff x="0" y="0"/>
            <a:chExt cx="5346700" cy="2159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 strike="noStrike" u="none">
                  <a:solidFill>
                    <a:srgbClr val="002B5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Data protection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is prioritized with our system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 privacy issues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78625" y="1732140"/>
            <a:ext cx="4315152" cy="3696435"/>
          </a:xfrm>
          <a:custGeom>
            <a:avLst/>
            <a:gdLst/>
            <a:ahLst/>
            <a:cxnLst/>
            <a:rect r="r" b="b" t="t" l="l"/>
            <a:pathLst>
              <a:path h="3696435" w="4315152">
                <a:moveTo>
                  <a:pt x="0" y="0"/>
                </a:moveTo>
                <a:lnTo>
                  <a:pt x="4315152" y="0"/>
                </a:lnTo>
                <a:lnTo>
                  <a:pt x="4315152" y="3696435"/>
                </a:lnTo>
                <a:lnTo>
                  <a:pt x="0" y="3696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29628" y="1561419"/>
            <a:ext cx="8810040" cy="6629555"/>
          </a:xfrm>
          <a:custGeom>
            <a:avLst/>
            <a:gdLst/>
            <a:ahLst/>
            <a:cxnLst/>
            <a:rect r="r" b="b" t="t" l="l"/>
            <a:pathLst>
              <a:path h="6629555" w="8810040">
                <a:moveTo>
                  <a:pt x="0" y="0"/>
                </a:moveTo>
                <a:lnTo>
                  <a:pt x="8810040" y="0"/>
                </a:lnTo>
                <a:lnTo>
                  <a:pt x="8810040" y="6629555"/>
                </a:lnTo>
                <a:lnTo>
                  <a:pt x="0" y="662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196" y="8626224"/>
            <a:ext cx="1188787" cy="896048"/>
          </a:xfrm>
          <a:custGeom>
            <a:avLst/>
            <a:gdLst/>
            <a:ahLst/>
            <a:cxnLst/>
            <a:rect r="r" b="b" t="t" l="l"/>
            <a:pathLst>
              <a:path h="896048" w="1188787">
                <a:moveTo>
                  <a:pt x="0" y="0"/>
                </a:moveTo>
                <a:lnTo>
                  <a:pt x="1188787" y="0"/>
                </a:lnTo>
                <a:lnTo>
                  <a:pt x="1188787" y="896048"/>
                </a:lnTo>
                <a:lnTo>
                  <a:pt x="0" y="896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68428" y="8568725"/>
            <a:ext cx="1011046" cy="1011046"/>
          </a:xfrm>
          <a:custGeom>
            <a:avLst/>
            <a:gdLst/>
            <a:ahLst/>
            <a:cxnLst/>
            <a:rect r="r" b="b" t="t" l="l"/>
            <a:pathLst>
              <a:path h="1011046" w="1011046">
                <a:moveTo>
                  <a:pt x="0" y="0"/>
                </a:moveTo>
                <a:lnTo>
                  <a:pt x="1011047" y="0"/>
                </a:lnTo>
                <a:lnTo>
                  <a:pt x="1011047" y="1011047"/>
                </a:lnTo>
                <a:lnTo>
                  <a:pt x="0" y="1011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77848" y="8568725"/>
            <a:ext cx="1152189" cy="1011046"/>
          </a:xfrm>
          <a:custGeom>
            <a:avLst/>
            <a:gdLst/>
            <a:ahLst/>
            <a:cxnLst/>
            <a:rect r="r" b="b" t="t" l="l"/>
            <a:pathLst>
              <a:path h="1011046" w="1152189">
                <a:moveTo>
                  <a:pt x="0" y="0"/>
                </a:moveTo>
                <a:lnTo>
                  <a:pt x="1152190" y="0"/>
                </a:lnTo>
                <a:lnTo>
                  <a:pt x="1152190" y="1011047"/>
                </a:lnTo>
                <a:lnTo>
                  <a:pt x="0" y="10110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78625" y="5428575"/>
            <a:ext cx="471082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002B5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Logitech Brio 300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2B5C"/>
                </a:solidFill>
                <a:latin typeface="HK Grotesk"/>
                <a:ea typeface="HK Grotesk"/>
                <a:cs typeface="HK Grotesk"/>
                <a:sym typeface="HK Grotesk"/>
              </a:rPr>
              <a:t>HD Capture     Wide FOV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171813" y="5985449"/>
            <a:ext cx="122464" cy="1224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181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56708" y="8683723"/>
            <a:ext cx="386614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002B5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Live Capture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002B5C"/>
                </a:solidFill>
                <a:latin typeface="HK Grotesk"/>
                <a:ea typeface="HK Grotesk"/>
                <a:cs typeface="HK Grotesk"/>
                <a:sym typeface="HK Grotesk"/>
              </a:rPr>
              <a:t>Faces detected in real 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62852" y="8683723"/>
            <a:ext cx="402282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002B5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AI Recognition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002B5C"/>
                </a:solidFill>
                <a:latin typeface="HK Grotesk"/>
                <a:ea typeface="HK Grotesk"/>
                <a:cs typeface="HK Grotesk"/>
                <a:sym typeface="HK Grotesk"/>
              </a:rPr>
              <a:t>Multiple students in one fram</a:t>
            </a:r>
            <a:r>
              <a:rPr lang="en-US" b="true" sz="2400">
                <a:solidFill>
                  <a:srgbClr val="002B5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13506" y="8683723"/>
            <a:ext cx="417031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002B5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Instant Attendance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002B5C"/>
                </a:solidFill>
                <a:latin typeface="HK Grotesk"/>
                <a:ea typeface="HK Grotesk"/>
                <a:cs typeface="HK Grotesk"/>
                <a:sym typeface="HK Grotesk"/>
              </a:rPr>
              <a:t>Auto-Marked &amp; logged securely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4731" y="361673"/>
            <a:ext cx="14278537" cy="8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8"/>
              </a:lnSpc>
            </a:pPr>
            <a:r>
              <a:rPr lang="en-US" sz="6158" spc="-123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Live, Camera-Based Attendance Recognition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927823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278121" y="1028700"/>
            <a:ext cx="1910468" cy="1454344"/>
          </a:xfrm>
          <a:custGeom>
            <a:avLst/>
            <a:gdLst/>
            <a:ahLst/>
            <a:cxnLst/>
            <a:rect r="r" b="b" t="t" l="l"/>
            <a:pathLst>
              <a:path h="1454344" w="1910468">
                <a:moveTo>
                  <a:pt x="0" y="0"/>
                </a:moveTo>
                <a:lnTo>
                  <a:pt x="1910468" y="0"/>
                </a:lnTo>
                <a:lnTo>
                  <a:pt x="1910468" y="1454344"/>
                </a:lnTo>
                <a:lnTo>
                  <a:pt x="0" y="1454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78121" y="3112665"/>
            <a:ext cx="1910468" cy="1910468"/>
          </a:xfrm>
          <a:custGeom>
            <a:avLst/>
            <a:gdLst/>
            <a:ahLst/>
            <a:cxnLst/>
            <a:rect r="r" b="b" t="t" l="l"/>
            <a:pathLst>
              <a:path h="1910468" w="1910468">
                <a:moveTo>
                  <a:pt x="0" y="0"/>
                </a:moveTo>
                <a:lnTo>
                  <a:pt x="1910468" y="0"/>
                </a:lnTo>
                <a:lnTo>
                  <a:pt x="1910468" y="1910468"/>
                </a:lnTo>
                <a:lnTo>
                  <a:pt x="0" y="191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543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78121" y="5408129"/>
            <a:ext cx="1910468" cy="1910468"/>
          </a:xfrm>
          <a:custGeom>
            <a:avLst/>
            <a:gdLst/>
            <a:ahLst/>
            <a:cxnLst/>
            <a:rect r="r" b="b" t="t" l="l"/>
            <a:pathLst>
              <a:path h="1910468" w="1910468">
                <a:moveTo>
                  <a:pt x="0" y="0"/>
                </a:moveTo>
                <a:lnTo>
                  <a:pt x="1910468" y="0"/>
                </a:lnTo>
                <a:lnTo>
                  <a:pt x="1910468" y="1910468"/>
                </a:lnTo>
                <a:lnTo>
                  <a:pt x="0" y="1910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78121" y="7846577"/>
            <a:ext cx="1910468" cy="1910468"/>
          </a:xfrm>
          <a:custGeom>
            <a:avLst/>
            <a:gdLst/>
            <a:ahLst/>
            <a:cxnLst/>
            <a:rect r="r" b="b" t="t" l="l"/>
            <a:pathLst>
              <a:path h="1910468" w="1910468">
                <a:moveTo>
                  <a:pt x="0" y="0"/>
                </a:moveTo>
                <a:lnTo>
                  <a:pt x="1910468" y="0"/>
                </a:lnTo>
                <a:lnTo>
                  <a:pt x="1910468" y="1910468"/>
                </a:lnTo>
                <a:lnTo>
                  <a:pt x="0" y="1910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678935"/>
            <a:ext cx="9401175" cy="241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4"/>
              </a:lnSpc>
            </a:pPr>
            <a:r>
              <a:rPr lang="en-US" sz="9244" spc="-184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Market </a:t>
            </a:r>
          </a:p>
          <a:p>
            <a:pPr algn="l" marL="0" indent="0" lvl="0">
              <a:lnSpc>
                <a:spcPts val="9244"/>
              </a:lnSpc>
            </a:pPr>
            <a:r>
              <a:rPr lang="en-US" sz="9244" spc="-184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Opportunity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71041" y="1183162"/>
            <a:ext cx="6306250" cy="1596799"/>
            <a:chOff x="0" y="0"/>
            <a:chExt cx="8408334" cy="212906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81265"/>
              <a:ext cx="8408334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Higher education, schools, coaching centres, and training institutes drive continuous attendance needs.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Larg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 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&amp; G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w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ing M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ar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71041" y="3286849"/>
            <a:ext cx="5788259" cy="1562100"/>
            <a:chOff x="0" y="0"/>
            <a:chExt cx="7717678" cy="20828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17600"/>
              <a:ext cx="7717678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Most institutions still rely on paper-based or basic digital attendance systems.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938616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High-Pai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,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Lo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w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-Autom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tion Segm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16492" y="5610888"/>
            <a:ext cx="6002573" cy="1504950"/>
            <a:chOff x="0" y="0"/>
            <a:chExt cx="8003431" cy="2006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558800"/>
              <a:ext cx="8003431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Subscription-based SaaS ensures scalable deployment with predictable recurring revenue.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938616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Scalable Reve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nue Potent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16492" y="7846577"/>
            <a:ext cx="5987265" cy="1504950"/>
            <a:chOff x="0" y="0"/>
            <a:chExt cx="7983020" cy="200660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558800"/>
              <a:ext cx="7983020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Smart attendance solutions represent a ₹2,400 Cr total addressable market with strong scalability.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0"/>
              <a:ext cx="5938616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Strong TAM Potential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586155" y="1200150"/>
            <a:ext cx="11115690" cy="123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4"/>
              </a:lnSpc>
            </a:pPr>
            <a:r>
              <a:rPr lang="en-US" sz="9244" spc="-184">
                <a:solidFill>
                  <a:srgbClr val="002B5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Investment Opportunity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5499" y="3605881"/>
            <a:ext cx="168131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2B5C"/>
                </a:solidFill>
                <a:latin typeface="HK Grotesk"/>
                <a:ea typeface="HK Grotesk"/>
                <a:cs typeface="HK Grotesk"/>
                <a:sym typeface="HK Grotesk"/>
              </a:rPr>
              <a:t>₹10L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70329" y="3605881"/>
            <a:ext cx="120178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2B5C"/>
                </a:solidFill>
                <a:latin typeface="HK Grotesk"/>
                <a:ea typeface="HK Grotesk"/>
                <a:cs typeface="HK Grotesk"/>
                <a:sym typeface="HK Grotesk"/>
              </a:rPr>
              <a:t>36x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68717" y="3605881"/>
            <a:ext cx="197241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2B5C"/>
                </a:solidFill>
                <a:latin typeface="HK Grotesk"/>
                <a:ea typeface="HK Grotesk"/>
                <a:cs typeface="HK Grotesk"/>
                <a:sym typeface="HK Grotesk"/>
              </a:rPr>
              <a:t>5Mn+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28061" y="5143500"/>
            <a:ext cx="4316188" cy="2460592"/>
            <a:chOff x="0" y="0"/>
            <a:chExt cx="5754918" cy="328078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67789"/>
              <a:ext cx="5754918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Seed capital to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deplo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pil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cros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10 i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titut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ion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strengthen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product re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ability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and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ver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early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tion i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r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ecurrin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evenu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Seed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Rou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Ask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85906" y="5143500"/>
            <a:ext cx="4316188" cy="1736692"/>
            <a:chOff x="0" y="0"/>
            <a:chExt cx="5754918" cy="231558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67789"/>
              <a:ext cx="5754918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ara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 exi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(Clas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pl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s,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Teachm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)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v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lu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at 30-40x ARR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Revenue Multiple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96832" y="5143500"/>
            <a:ext cx="4316188" cy="1736692"/>
            <a:chOff x="0" y="0"/>
            <a:chExt cx="5754918" cy="231558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67789"/>
              <a:ext cx="5754918" cy="1447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Scalable roadmap en</a:t>
              </a:r>
              <a:r>
                <a:rPr lang="en-US" sz="2400" strike="noStrike" u="none">
                  <a:solidFill>
                    <a:srgbClr val="002B5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abling adoption across 1,500+ institutions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Stude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nt Lives</a:t>
              </a:r>
              <a:r>
                <a:rPr lang="en-US" b="true" sz="2799" strike="noStrike" u="none">
                  <a:solidFill>
                    <a:srgbClr val="002B5C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Impacted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t="0" r="-19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2775" y="4077122"/>
            <a:ext cx="5448300" cy="2151805"/>
            <a:chOff x="0" y="0"/>
            <a:chExt cx="7264400" cy="28690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002B5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86474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002B5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DAHAFgvXubs</dc:identifier>
  <dcterms:modified xsi:type="dcterms:W3CDTF">2011-08-01T06:04:30Z</dcterms:modified>
  <cp:revision>1</cp:revision>
  <dc:title>Department of Information Technology</dc:title>
</cp:coreProperties>
</file>